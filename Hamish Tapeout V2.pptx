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3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1C48-560A-B57A-83F8-3FFB44E78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115E70-78E0-A95E-9B9B-1FDC48E45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9076A-AC55-98A9-564A-7F4F9E45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E21D-4A7C-AC0B-C3AE-43E65ADB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D828D-AE71-984A-139B-96706256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55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9FCA-286A-D8BB-81A6-7CC5745F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59242-C32E-DFE5-CD2F-541E6673B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7FEC6-C19D-EAF9-43D5-D7A41325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4E930-6B1C-2FE5-4639-E352C5E6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185E9-3089-9EDE-FB0A-E08C9A73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00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925C-DE89-DFE6-56BE-488E980D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285DE-EA22-640A-009B-E8BC29204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D5FDE-A7DD-3E73-9972-89387749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9399-34D8-D2CC-D5B0-1B360706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30A2-C3C0-90D8-3855-F55C217B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746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5A1E-8193-EAD0-5A7A-7F710E9F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B3145-DEE9-39B4-4AC7-A68C63FBB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3E60B-2461-2731-1ADE-DF9B331E0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1FABA-5712-10E3-45BC-43CA8A1F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40A9E-3ACA-E349-EDDD-540355D3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424E1-A71D-A28A-3E65-2E994D3C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0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D917C-E526-30FD-74D1-54375165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7F98B-F28F-89A4-35FA-8F942F9D0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906FB-3E91-3969-90E5-8D6BC8489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D2D98-9D43-8C3B-380C-F9FDAC1B5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10028-9471-B569-2CB1-7F9EC8F52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431D8-7891-5E21-67FB-E70E6367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959F4-CC3D-D020-15FD-AEEDED20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B5364-0FA1-CDCF-B64F-FF12FAE6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5883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310D-0405-006D-8228-8F13D8E7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8FA5B-0540-A64C-E797-D8781FD2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1D4F9-7777-4E2D-7358-6B3A3671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E6844-4A80-E248-1A15-D59B5EB1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E2A26-9D29-02CB-AE22-FDC3B83C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2DDF3-F2CF-615B-225D-53C84198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7463A-62EF-C64D-F5A6-0CEA6C41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132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BF19-5ABC-B2EF-D81D-3FCD6E31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570A-F8E4-E055-1E0B-1A508C6D7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F9C91-9C28-6634-2260-6C326A084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990A8-378A-573C-68F3-C764F10A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5B5FF-6A69-CE83-505D-2CEFDECE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24B77-E1C8-054C-61AB-F20C78CA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673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8FE1-2CA1-8FCA-0658-6A5188EE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95D6C-2C8F-DE5C-4FC4-0613AAE72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54E03-3B3E-57AC-3738-AE30FF96A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F78A6-CBB5-04D4-37B7-F8126113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677E2-AB3A-7851-08A9-72AE04A9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0ADCE-644A-C110-F9D0-6ECE536D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723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135D-6A95-9DDC-7EDC-087793657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B9A39-A340-9BD6-13A4-2D72EF289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C3188-8953-7145-F688-6A04E0AD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ADBF1-7F7D-3373-1FC3-C230ACFA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4D6CF-9BA1-7842-1502-BFEE099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927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1F2F7-FDAC-CD12-85D6-083CE2ED4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88D81-8E0E-9D6F-D270-E32D0D564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7A030-CFB5-1979-D6BA-CEFCC9BE6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6E6F9-3940-0E78-C198-E53CCA1B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E4C9-6754-1C09-89F0-C87E3A58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010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6B5FB-23E7-7312-DECB-ECDA49A12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34D39-4621-7391-8629-AF9196221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C43D8-62A2-1928-B9FD-C47B67ECE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9F1DE-943D-4546-86F5-9A7799D0971D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A6A9B-3C91-C459-D97F-0E0AF4391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A774F-F1F8-820C-A8CB-6C389E3F5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E33E7-7D4F-45B7-8EC3-115B6C08B8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090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941-D52C-9F54-CF53-858DA779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340112-6AB1-726F-380B-EDEFDF68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71" y="1038225"/>
            <a:ext cx="10683067" cy="56292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A59990-2944-EA12-35A1-DB6048735D09}"/>
              </a:ext>
            </a:extLst>
          </p:cNvPr>
          <p:cNvSpPr txBox="1"/>
          <p:nvPr/>
        </p:nvSpPr>
        <p:spPr>
          <a:xfrm>
            <a:off x="1115568" y="210312"/>
            <a:ext cx="10277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latin typeface="+mj-lt"/>
              </a:rPr>
              <a:t>Hamish </a:t>
            </a:r>
            <a:r>
              <a:rPr lang="en-CA" sz="4400">
                <a:latin typeface="+mj-lt"/>
              </a:rPr>
              <a:t>Design V2</a:t>
            </a:r>
            <a:endParaRPr lang="en-CA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534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CC22-960D-6F06-9703-AA600FAF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5D0857E-3413-0871-EC47-5660387FD80A}"/>
              </a:ext>
            </a:extLst>
          </p:cNvPr>
          <p:cNvGrpSpPr/>
          <p:nvPr/>
        </p:nvGrpSpPr>
        <p:grpSpPr>
          <a:xfrm>
            <a:off x="3069564" y="0"/>
            <a:ext cx="6580074" cy="3467267"/>
            <a:chOff x="0" y="-1"/>
            <a:chExt cx="6580074" cy="34672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9920BDA-E34F-E084-5A7C-AFE1965B7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6580074" cy="346726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BECE78-C914-56A1-0A02-C42747FA2F16}"/>
                </a:ext>
              </a:extLst>
            </p:cNvPr>
            <p:cNvSpPr/>
            <p:nvPr/>
          </p:nvSpPr>
          <p:spPr>
            <a:xfrm>
              <a:off x="212598" y="164592"/>
              <a:ext cx="292227" cy="1016508"/>
            </a:xfrm>
            <a:prstGeom prst="rect">
              <a:avLst/>
            </a:prstGeom>
            <a:solidFill>
              <a:srgbClr val="D9F2D0">
                <a:alpha val="14118"/>
              </a:srgb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ADAEAEC-B786-1533-13B0-ED8BE1137945}"/>
                </a:ext>
              </a:extLst>
            </p:cNvPr>
            <p:cNvSpPr/>
            <p:nvPr/>
          </p:nvSpPr>
          <p:spPr>
            <a:xfrm>
              <a:off x="504825" y="164592"/>
              <a:ext cx="895350" cy="103602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4118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4F5382-E62C-3389-A225-FA2A80C6A39D}"/>
                </a:ext>
              </a:extLst>
            </p:cNvPr>
            <p:cNvSpPr/>
            <p:nvPr/>
          </p:nvSpPr>
          <p:spPr>
            <a:xfrm flipH="1">
              <a:off x="212594" y="1226012"/>
              <a:ext cx="2886203" cy="1758488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4118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B6FB6E-A9A3-E8B3-31A7-4A8D88C80F0E}"/>
                </a:ext>
              </a:extLst>
            </p:cNvPr>
            <p:cNvSpPr/>
            <p:nvPr/>
          </p:nvSpPr>
          <p:spPr>
            <a:xfrm flipH="1">
              <a:off x="3158995" y="1441450"/>
              <a:ext cx="3083054" cy="168275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14118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2AFEE2-728E-55F7-D07A-AD3EA77881C7}"/>
                </a:ext>
              </a:extLst>
            </p:cNvPr>
            <p:cNvSpPr/>
            <p:nvPr/>
          </p:nvSpPr>
          <p:spPr>
            <a:xfrm flipH="1">
              <a:off x="1425574" y="164592"/>
              <a:ext cx="895350" cy="1016508"/>
            </a:xfrm>
            <a:prstGeom prst="rect">
              <a:avLst/>
            </a:prstGeom>
            <a:solidFill>
              <a:srgbClr val="FFFF00">
                <a:alpha val="14118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872C5A-B424-A4D8-F620-EDCDA3F6C1CA}"/>
                </a:ext>
              </a:extLst>
            </p:cNvPr>
            <p:cNvSpPr/>
            <p:nvPr/>
          </p:nvSpPr>
          <p:spPr>
            <a:xfrm flipH="1">
              <a:off x="2349498" y="184104"/>
              <a:ext cx="2749551" cy="10165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4118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2A31C-5E24-BCAC-A504-A2D89EB1CC2B}"/>
              </a:ext>
            </a:extLst>
          </p:cNvPr>
          <p:cNvSpPr/>
          <p:nvPr/>
        </p:nvSpPr>
        <p:spPr>
          <a:xfrm>
            <a:off x="3282159" y="3575304"/>
            <a:ext cx="5322345" cy="30985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DE073E7-6670-73D9-4DAF-CBB231BC316E}"/>
              </a:ext>
            </a:extLst>
          </p:cNvPr>
          <p:cNvGrpSpPr/>
          <p:nvPr/>
        </p:nvGrpSpPr>
        <p:grpSpPr>
          <a:xfrm>
            <a:off x="3473396" y="3651371"/>
            <a:ext cx="4962655" cy="2894482"/>
            <a:chOff x="6792668" y="164592"/>
            <a:chExt cx="4962655" cy="28944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059118-3A38-638C-A43F-D313CC5B25A5}"/>
                </a:ext>
              </a:extLst>
            </p:cNvPr>
            <p:cNvSpPr/>
            <p:nvPr/>
          </p:nvSpPr>
          <p:spPr>
            <a:xfrm rot="16200000">
              <a:off x="6322717" y="634545"/>
              <a:ext cx="1183617" cy="243714"/>
            </a:xfrm>
            <a:prstGeom prst="rect">
              <a:avLst/>
            </a:prstGeom>
            <a:solidFill>
              <a:srgbClr val="D9F2D0">
                <a:alpha val="14118"/>
              </a:srgb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err="1">
                  <a:solidFill>
                    <a:schemeClr val="tx1"/>
                  </a:solidFill>
                </a:rPr>
                <a:t>LoopBack</a:t>
              </a:r>
              <a:endParaRPr lang="en-CA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7B3D56-2294-A0F1-BE44-4456417D8ED4}"/>
                </a:ext>
              </a:extLst>
            </p:cNvPr>
            <p:cNvSpPr/>
            <p:nvPr/>
          </p:nvSpPr>
          <p:spPr>
            <a:xfrm>
              <a:off x="7103947" y="164592"/>
              <a:ext cx="961060" cy="11836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4118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Length Test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9803D-A836-FE35-AC0D-17E80C28510E}"/>
                </a:ext>
              </a:extLst>
            </p:cNvPr>
            <p:cNvSpPr/>
            <p:nvPr/>
          </p:nvSpPr>
          <p:spPr>
            <a:xfrm flipH="1">
              <a:off x="6792668" y="1376324"/>
              <a:ext cx="2749549" cy="1682750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14118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MZI Testers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81B0A9-9B65-E87D-5878-CC8C4C4A5F4F}"/>
                </a:ext>
              </a:extLst>
            </p:cNvPr>
            <p:cNvSpPr/>
            <p:nvPr/>
          </p:nvSpPr>
          <p:spPr>
            <a:xfrm flipH="1">
              <a:off x="9678873" y="1376324"/>
              <a:ext cx="2076450" cy="168275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14118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MZI with heaters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BCE16C-AC2B-8218-9FB2-78B2FFE3F4E3}"/>
                </a:ext>
              </a:extLst>
            </p:cNvPr>
            <p:cNvSpPr/>
            <p:nvPr/>
          </p:nvSpPr>
          <p:spPr>
            <a:xfrm flipH="1">
              <a:off x="8132571" y="164592"/>
              <a:ext cx="961060" cy="1183618"/>
            </a:xfrm>
            <a:prstGeom prst="rect">
              <a:avLst/>
            </a:prstGeom>
            <a:solidFill>
              <a:srgbClr val="FFFF00">
                <a:alpha val="14118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 err="1">
                  <a:solidFill>
                    <a:schemeClr val="tx1"/>
                  </a:solidFill>
                </a:rPr>
                <a:t>R_bend</a:t>
              </a:r>
              <a:r>
                <a:rPr lang="en-CA" dirty="0">
                  <a:solidFill>
                    <a:schemeClr val="tx1"/>
                  </a:solidFill>
                </a:rPr>
                <a:t> Test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5AE0046-A282-081E-54C6-B53389C8A88A}"/>
                </a:ext>
              </a:extLst>
            </p:cNvPr>
            <p:cNvSpPr/>
            <p:nvPr/>
          </p:nvSpPr>
          <p:spPr>
            <a:xfrm flipH="1">
              <a:off x="9161194" y="164592"/>
              <a:ext cx="1759789" cy="118361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4118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/>
                  </a:solidFill>
                </a:rPr>
                <a:t>Directional Coupler Testers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411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50A0-F4EA-C28C-9172-B27F7BBE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0AE42-7207-737D-996E-6E84D1C18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 </a:t>
            </a:r>
            <a:r>
              <a:rPr lang="en-US" dirty="0" err="1"/>
              <a:t>SiN</a:t>
            </a:r>
            <a:r>
              <a:rPr lang="en-US" dirty="0"/>
              <a:t>:</a:t>
            </a:r>
          </a:p>
          <a:p>
            <a:r>
              <a:rPr lang="en-US" dirty="0"/>
              <a:t>ANT SiO2:</a:t>
            </a:r>
          </a:p>
          <a:p>
            <a:endParaRPr lang="en-US" dirty="0"/>
          </a:p>
          <a:p>
            <a:r>
              <a:rPr lang="en-US" dirty="0"/>
              <a:t>Design testable elements towards a 4-channel wavelength-division demultiplexer.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298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89E22-6402-564D-EABB-C1627912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477A-2E1B-B727-227B-1FF4CFAE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E8C5E-0EF4-32F7-688F-BA43C2290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Waveguide: 400nm tall x 450nm wide, 25um bend radius.</a:t>
            </a:r>
          </a:p>
          <a:p>
            <a:r>
              <a:rPr lang="en-US" dirty="0"/>
              <a:t>Grating coupler: Universal GC </a:t>
            </a:r>
            <a:r>
              <a:rPr lang="en-US" dirty="0" err="1"/>
              <a:t>PCell</a:t>
            </a:r>
            <a:r>
              <a:rPr lang="en-US" dirty="0"/>
              <a:t> from </a:t>
            </a:r>
            <a:r>
              <a:rPr lang="en-US" dirty="0" err="1"/>
              <a:t>SiN</a:t>
            </a:r>
            <a:r>
              <a:rPr lang="en-US" dirty="0"/>
              <a:t> Library at 810nm.</a:t>
            </a:r>
          </a:p>
          <a:p>
            <a:r>
              <a:rPr lang="en-US" dirty="0"/>
              <a:t>Directional Coupler: From Beta library </a:t>
            </a:r>
            <a:r>
              <a:rPr lang="en-US" dirty="0" err="1"/>
              <a:t>Pcell</a:t>
            </a:r>
            <a:r>
              <a:rPr lang="en-US" dirty="0"/>
              <a:t>.</a:t>
            </a:r>
          </a:p>
          <a:p>
            <a:r>
              <a:rPr lang="en-US" dirty="0"/>
              <a:t>Heater: From </a:t>
            </a:r>
            <a:r>
              <a:rPr lang="en-US" dirty="0" err="1"/>
              <a:t>SiN</a:t>
            </a:r>
            <a:r>
              <a:rPr lang="en-US" dirty="0"/>
              <a:t> Library.</a:t>
            </a:r>
          </a:p>
          <a:p>
            <a:r>
              <a:rPr lang="en-US" dirty="0"/>
              <a:t>Delay: </a:t>
            </a:r>
            <a:r>
              <a:rPr lang="en-US" dirty="0" err="1"/>
              <a:t>SiN</a:t>
            </a:r>
            <a:r>
              <a:rPr lang="en-US" dirty="0"/>
              <a:t> Library bump </a:t>
            </a:r>
            <a:r>
              <a:rPr lang="en-US" dirty="0" err="1"/>
              <a:t>PCell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4870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4CF3-FE2D-A1A8-29E3-9E0BB8AC5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MZI Design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9915-EEAA-C2C6-3D60-3825B0671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925" cy="4351338"/>
          </a:xfrm>
        </p:spPr>
        <p:txBody>
          <a:bodyPr/>
          <a:lstStyle/>
          <a:p>
            <a:r>
              <a:rPr lang="en-US" dirty="0"/>
              <a:t>Simplified, one-stage cascaded MZI lattice filter.</a:t>
            </a:r>
          </a:p>
          <a:p>
            <a:r>
              <a:rPr lang="en-US" dirty="0"/>
              <a:t>Root stage does narrow FSR splitting of even and odd channels.</a:t>
            </a:r>
          </a:p>
          <a:p>
            <a:r>
              <a:rPr lang="en-US" dirty="0"/>
              <a:t>Leaf stage does wide FSR splitting of low and high channels.</a:t>
            </a:r>
            <a:endParaRPr lang="en-CA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86A72B9-6826-3B74-28DB-B0A3FA0E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570" y="291235"/>
            <a:ext cx="4725059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7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F1D77-E518-1EB0-47D1-675F5EFB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FC28-8E14-A965-B84A-FC4ECCD4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MZI Simulation</a:t>
            </a:r>
            <a:endParaRPr lang="en-CA" dirty="0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C77F73C7-6CAE-F0A7-3E2D-894DD090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1218816"/>
            <a:ext cx="11117226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8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0520-6187-D6A7-A9D7-D233367E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3811-BD10-D71D-76B6-33B42F9B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MZI Parameters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3EDF-4362-76EF-FBF1-38ADEDCC7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870450"/>
          </a:xfrm>
        </p:spPr>
        <p:txBody>
          <a:bodyPr>
            <a:normAutofit/>
          </a:bodyPr>
          <a:lstStyle/>
          <a:p>
            <a:r>
              <a:rPr lang="en-US" dirty="0"/>
              <a:t>All directional couplers </a:t>
            </a:r>
            <a:r>
              <a:rPr lang="en-US" dirty="0" err="1"/>
              <a:t>optimised</a:t>
            </a:r>
            <a:r>
              <a:rPr lang="en-US" dirty="0"/>
              <a:t> for 50/50 splitting at 810 (k=1/2).</a:t>
            </a:r>
          </a:p>
          <a:p>
            <a:r>
              <a:rPr lang="en-US" dirty="0"/>
              <a:t>Delay lengths chosen for channel spacing ~25nm.</a:t>
            </a:r>
          </a:p>
          <a:p>
            <a:r>
              <a:rPr lang="en-US" dirty="0"/>
              <a:t>This sets FSR and therefore delay lengths L.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L_root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L_leaf1 =</a:t>
            </a:r>
          </a:p>
          <a:p>
            <a:pPr marL="0" indent="0">
              <a:buNone/>
            </a:pPr>
            <a:r>
              <a:rPr lang="en-US" dirty="0"/>
              <a:t>L_leaf2 =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goal is to try a few longer and a few shorter designs.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823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398F-E8F0-864C-5660-B11B32DA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Sweep – Delay Lengths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90ED7-6FE7-5E99-E952-6BC6A79ED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200um</a:t>
            </a:r>
          </a:p>
          <a:p>
            <a:r>
              <a:rPr lang="en-US" dirty="0"/>
              <a:t>500um</a:t>
            </a:r>
          </a:p>
          <a:p>
            <a:r>
              <a:rPr lang="en-US" dirty="0"/>
              <a:t>1000um</a:t>
            </a:r>
          </a:p>
          <a:p>
            <a:r>
              <a:rPr lang="en-US" dirty="0"/>
              <a:t>2000um</a:t>
            </a:r>
          </a:p>
          <a:p>
            <a:r>
              <a:rPr lang="en-US" dirty="0"/>
              <a:t>4000um</a:t>
            </a:r>
          </a:p>
          <a:p>
            <a:r>
              <a:rPr lang="en-US" dirty="0"/>
              <a:t>8000um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8475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4BC0D-9527-3DF9-4726-F192BE20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5C00-9BC6-450B-846D-67D20D33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Sweep – Radius of Curvature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E369-4D3B-B850-89F9-581A7BBFD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25um</a:t>
            </a:r>
          </a:p>
          <a:p>
            <a:r>
              <a:rPr lang="en-US" dirty="0"/>
              <a:t>20um</a:t>
            </a:r>
          </a:p>
          <a:p>
            <a:r>
              <a:rPr lang="en-US" dirty="0"/>
              <a:t>15</a:t>
            </a:r>
            <a:r>
              <a:rPr lang="en-CA" dirty="0"/>
              <a:t>um</a:t>
            </a:r>
          </a:p>
          <a:p>
            <a:r>
              <a:rPr lang="en-CA" dirty="0"/>
              <a:t>14um</a:t>
            </a:r>
          </a:p>
          <a:p>
            <a:r>
              <a:rPr lang="en-CA" dirty="0"/>
              <a:t>13um</a:t>
            </a:r>
          </a:p>
          <a:p>
            <a:r>
              <a:rPr lang="en-CA" dirty="0"/>
              <a:t>12um</a:t>
            </a:r>
          </a:p>
          <a:p>
            <a:r>
              <a:rPr lang="en-CA" dirty="0"/>
              <a:t>11um</a:t>
            </a:r>
          </a:p>
          <a:p>
            <a:r>
              <a:rPr lang="en-CA" dirty="0"/>
              <a:t>25um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913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D467-7F39-6BE8-F29A-680FE2CC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1CAE-87E1-B8F1-FC45-0DA19C2FD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Sweep – Directional Coupler</a:t>
            </a:r>
            <a:endParaRPr lang="en-C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BE5F89-C57C-C72A-ADBA-F4D5AA87B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682564"/>
              </p:ext>
            </p:extLst>
          </p:nvPr>
        </p:nvGraphicFramePr>
        <p:xfrm>
          <a:off x="838200" y="1825625"/>
          <a:ext cx="481012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2448197997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563151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Gap [um]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[um]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146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2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55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889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10.101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6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6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995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192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11.16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99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20.202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66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10.101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555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10.101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964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850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237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Goals</vt:lpstr>
      <vt:lpstr>Components</vt:lpstr>
      <vt:lpstr>MZI Design</vt:lpstr>
      <vt:lpstr>MZI Simulation</vt:lpstr>
      <vt:lpstr>MZI Parameters</vt:lpstr>
      <vt:lpstr>Parameter Sweep – Delay Lengths</vt:lpstr>
      <vt:lpstr>Parameter Sweep – Radius of Curvature</vt:lpstr>
      <vt:lpstr>Parameter Sweep – Directional Coupler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Hamish Johnson</dc:creator>
  <cp:lastModifiedBy>Hamish Johnson</cp:lastModifiedBy>
  <cp:revision>3</cp:revision>
  <dcterms:created xsi:type="dcterms:W3CDTF">2026-02-05T00:58:58Z</dcterms:created>
  <dcterms:modified xsi:type="dcterms:W3CDTF">2026-02-05T08:29:21Z</dcterms:modified>
</cp:coreProperties>
</file>